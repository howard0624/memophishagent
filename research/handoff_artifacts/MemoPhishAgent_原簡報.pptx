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56B283-3286-417D-91E4-06E28628D191}">
  <a:tblStyle styleId="{C456B283-3286-417D-91E4-06E28628D19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開場：這兩週主要是把實驗需要的工具與資料準備好。現在可以回頭追查每個判決是怎麼來的，但還沒有真實網站偵測結果。工作日期仍需與實際紀錄核對。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比喻：五份相似病歷，三份說要開刀、兩份說不用，與五份都說要開刀，意見一致程度不同；但是否判對仍要看真實答案。Memory 記錄的詳細欄位與原版程式核對，不能把保存內容說成必然提升準確率。舊案標籤錯誤或網站改版都可能讓記憶失去參考價值，這是待驗證的風險。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已確認原版不是釣魚與正常雙向多數決。五筆達標且釣魚票過半才走快速釣魚判決。來源：XuanChen-xc/MemoPhishAgent 的 memory.py 與 agent_helpers.py。模型接手不保證補查。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逐案 audit JSONL 也保存失敗狀態；快照保存記憶紀錄，載入時仍可能需要重建 embeddings。這些改動先建立研究工具，不預設新策略一定有效。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這些測試確認流程與預期相符，沒有證明真實偵測效果。16 項通過依使用者最新進度提供：7 項離線、4 項整合、5 項切分。新增9項未在此次製作簡報時獨立重跑；不是宣稱本次助理完成16項執行。</a:t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原始資料有1個URL標籤衝突。84個不同URL合併隔離，剩663。候選分組仍需檢查重導向、跨網域相同模板與類別比例。數字依使用者最新稽核進度提供，不能宣稱切分已完全排除資料洩漏。</a:t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目前成果是研究工具與實驗準備，不能報告策略提升偵測能力。這裡的缺API指本研究執行環境未備妥，不代表使用者從未申請API。與原版缺陷相關的舊案錯誤、內容改變與攻擊面均仍待驗證。</a:t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研究題目保持不變。基線先觀察3:2、4:1、5:0樣本比例與錯誤，再決定補查門檻。相关論文目前尚未完成閱讀，不能写成已完成；需要後續补上文獻與研究設計關聯。</a:t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兩週研究進度報告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01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09600" y="1362075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MemoPhishAgent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9600" y="22288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記憶投票一致性與判決可靠性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00" y="30670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補充取證的效果與成本分析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600" y="42291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這兩週先把研究工具與實驗準備做好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09600" y="4933950"/>
            <a:ext cx="10972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完成判決紀錄、離線測試與候選資料切分。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還沒跑真實網站，目前沒有偵測成效可以報告。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09600" y="6257925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王博弘｜2026.10.06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為什麼要研究記憶投票？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02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09600" y="1400175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Memory 就像舊案件的資料庫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09600" y="20478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保存網站線索、判決與工具紀錄；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遇到相似網站時，取出舊案幫助判斷。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09600" y="3314700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3：2、4：1、5：0，判斷真的一樣可靠嗎？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09600" y="4019550"/>
            <a:ext cx="109728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哪些分歧值得重新查當前網站？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補查能減少多少誤判，又多花多少時間與 tokens？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09600" y="5695950"/>
            <a:ext cx="10972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票數只是舊案的一致程度，不能當成準確率。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原版什麼時候直接下判決？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03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609600" y="1362075"/>
            <a:ext cx="10972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以 k＝5 為例：五筆舊案都通過相似度門檻後</a:t>
            </a:r>
            <a:endParaRPr/>
          </a:p>
        </p:txBody>
      </p:sp>
      <p:graphicFrame>
        <p:nvGraphicFramePr>
          <p:cNvPr id="44" name="Google Shape;44;p5"/>
          <p:cNvGraphicFramePr/>
          <p:nvPr/>
        </p:nvGraphicFramePr>
        <p:xfrm>
          <a:off x="609600" y="21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4476750"/>
                <a:gridCol w="6496050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情況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原版怎麼做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釣魚票過半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直接判釣魚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正常票占多數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交給模型繼續判斷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交給模型判斷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不一定會再呼叫工具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Google Shape;45;p5"/>
          <p:cNvSpPr/>
          <p:nvPr/>
        </p:nvSpPr>
        <p:spPr>
          <a:xfrm>
            <a:off x="609600" y="5410200"/>
            <a:ext cx="1097280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直接判釣魚之前，仍會爬取、摘要與檢索。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所以要分開量測：判得準不準、實際省了多少成本。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已完成：讓每個判決都有紀錄</a:t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04</a:t>
            </a:r>
            <a:endParaRPr/>
          </a:p>
        </p:txBody>
      </p:sp>
      <p:graphicFrame>
        <p:nvGraphicFramePr>
          <p:cNvPr id="53" name="Google Shape;53;p6"/>
          <p:cNvGraphicFramePr/>
          <p:nvPr/>
        </p:nvGraphicFramePr>
        <p:xfrm>
          <a:off x="6096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5715000"/>
                <a:gridCol w="5257800"/>
              </a:tblGrid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做了什麼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為什麼需要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記下舊案、相似度與票數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回頭查判決依據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逐案保存路徑、時間與工具次數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比較可靠性與成本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保存快照、凍結記憶寫入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不同實驗用相同的記憶起點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跑完後才合併正確標籤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避免 Agent 先看到答案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6"/>
          <p:cNvSpPr/>
          <p:nvPr/>
        </p:nvSpPr>
        <p:spPr>
          <a:xfrm>
            <a:off x="609600" y="5524500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目前只加紀錄，保留原版投票規則與提示詞。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還沒加入新門檻，也沒有強制補查。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如何驗證：先確認程式流程</a:t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05</a:t>
            </a:r>
            <a:endParaRPr/>
          </a:p>
        </p:txBody>
      </p:sp>
      <p:graphicFrame>
        <p:nvGraphicFramePr>
          <p:cNvPr id="62" name="Google Shape;62;p7"/>
          <p:cNvGraphicFramePr/>
          <p:nvPr/>
        </p:nvGraphicFramePr>
        <p:xfrm>
          <a:off x="609600" y="14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6953250"/>
                <a:gridCol w="1524000"/>
                <a:gridCol w="249555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測試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項數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結果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離線邏輯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7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LangGraph 框架整合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4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資料切分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5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合計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16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全部通過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7"/>
          <p:cNvSpPr/>
          <p:nvPr/>
        </p:nvSpPr>
        <p:spPr>
          <a:xfrm>
            <a:off x="609600" y="5143500"/>
            <a:ext cx="109728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整合測試使用實際框架與記憶儲存；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模型、網站工具與 embedding 用固定替身，阻止連網。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資料準備：先把容易出問題的案件隔開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06</a:t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609600" y="1371600"/>
            <a:ext cx="109728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SocPhish：753 筆紀錄，共 747 個不同 URL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609600" y="2000250"/>
            <a:ext cx="109728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隔離標籤衝突、短網址與參數遮蔽案件：84 個 URL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剩下 663 個，按網站分組，先做候選切分。</a:t>
            </a:r>
            <a:endParaRPr/>
          </a:p>
        </p:txBody>
      </p:sp>
      <p:graphicFrame>
        <p:nvGraphicFramePr>
          <p:cNvPr id="73" name="Google Shape;73;p8"/>
          <p:cNvGraphicFramePr/>
          <p:nvPr/>
        </p:nvGraphicFramePr>
        <p:xfrm>
          <a:off x="609600" y="325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8286750"/>
                <a:gridCol w="268605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用途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URL 數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建立記憶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398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驗證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133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測試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132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Google Shape;74;p8"/>
          <p:cNvSpPr/>
          <p:nvPr/>
        </p:nvSpPr>
        <p:spPr>
          <a:xfrm>
            <a:off x="609600" y="581025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跨組沒有重複 URL 或同網站組；仍要查標籤與網站現況。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目前限制：還不能說偵測效果變好了</a:t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07</a:t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609600" y="139065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還沒跑真實網站，沒有 Accuracy、Recall 或 F1。</a:t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609600" y="2543175"/>
            <a:ext cx="10972800" cy="223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環境：目前執行環境缺 API 憑證與預設瀏覽器。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資料：類別比例不平衡，候選切分還沒定案。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成本：逐案 tokens 仍為 null，要處理並行用量歸屬。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記憶：還沒有真實快照，重建 embeddings 可能收費。</a:t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609600" y="5229225"/>
            <a:ext cx="10972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舊案可能有錯誤標籤，網站也可能已經改版。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這些風險還要檢查，不能直接相信檢索結果。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D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下週計畫：把原版小批次實驗準備好</a:t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11163300" y="6353175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52E43"/>
                </a:solidFill>
                <a:latin typeface="DFKai-SB"/>
                <a:ea typeface="DFKai-SB"/>
                <a:cs typeface="DFKai-SB"/>
                <a:sym typeface="DFKai-SB"/>
              </a:rPr>
              <a:t>08</a:t>
            </a:r>
            <a:endParaRPr/>
          </a:p>
        </p:txBody>
      </p:sp>
      <p:graphicFrame>
        <p:nvGraphicFramePr>
          <p:cNvPr id="92" name="Google Shape;92;p10"/>
          <p:cNvGraphicFramePr/>
          <p:nvPr/>
        </p:nvGraphicFramePr>
        <p:xfrm>
          <a:off x="609600" y="14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{C456B283-3286-417D-91E4-06E28628D191}</a:tableStyleId>
              </a:tblPr>
              <a:tblGrid>
                <a:gridCol w="4476750"/>
                <a:gridCol w="64960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工作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DFKai-SB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預計交付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152E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讀一篇相關論文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整理方法與可借鏡的實驗設計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確認資料與問題案件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提出正式切分方案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設計原版小批次基線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固定模型、k、門檻與記憶起點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確認環境與預算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E43"/>
                        </a:buClr>
                        <a:buSzPts val="2400"/>
                        <a:buFont typeface="DFKai-SB"/>
                        <a:buNone/>
                      </a:pPr>
                      <a:r>
                        <a:rPr b="0" lang="en-US" sz="2400">
                          <a:solidFill>
                            <a:srgbClr val="152E43"/>
                          </a:solidFill>
                          <a:latin typeface="DFKai-SB"/>
                          <a:ea typeface="DFKai-SB"/>
                          <a:cs typeface="DFKai-SB"/>
                          <a:sym typeface="DFKai-SB"/>
                        </a:rPr>
                        <a:t>列出執行條件與費用估計</a:t>
                      </a:r>
                      <a:endParaRPr/>
                    </a:p>
                  </a:txBody>
                  <a:tcPr marT="76200" marB="76200" marR="133350" marL="1333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0"/>
          <p:cNvSpPr/>
          <p:nvPr/>
        </p:nvSpPr>
        <p:spPr>
          <a:xfrm>
            <a:off x="609600" y="5610225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先把資料與實驗條件確認好。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6"/>
                </a:solidFill>
                <a:latin typeface="DFKai-SB"/>
                <a:ea typeface="DFKai-SB"/>
                <a:cs typeface="DFKai-SB"/>
                <a:sym typeface="DFKai-SB"/>
              </a:rPr>
              <a:t>條件與預算就緒後，再開始真實基線實驗。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