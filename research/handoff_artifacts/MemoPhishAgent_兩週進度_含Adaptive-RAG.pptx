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64" r:id="rId14"/>
    <p:sldId id="265" r:id="rId15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456B283-3286-417D-91E4-06E28628D191}">
  <a:tblStyle styleId="{C456B283-3286-417D-91E4-06E28628D19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開場：這兩週主要是把實驗需要的工具與資料準備好。現在可以回頭追查每個判決是怎麼來的，但還沒有真實網站偵測結果。工作日期仍需與實際紀錄核對。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比喻：五份相似病歷，三份說要開刀、兩份說不用，與五份都說要開刀，意見一致程度不同；但是否判對仍要看真實答案。Memory 記錄的詳細欄位與原版程式核對，不能把保存內容說成必然提升準確率。舊案標籤錯誤或網站改版都可能讓記憶失去參考價值，這是待驗證的風險。</a:t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" name="Google Shape;3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已確認原版不是釣魚與正常雙向多數決。五筆達標且釣魚票過半才走快速釣魚判決。來源：XuanChen-xc/MemoPhishAgent 的 memory.py 與 agent_helpers.py。模型接手不保證補查。</a:t>
            </a:r>
            <a:endParaRPr/>
          </a:p>
        </p:txBody>
      </p:sp>
      <p:sp>
        <p:nvSpPr>
          <p:cNvPr id="39" name="Google Shape;3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" name="Google Shape;4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逐案 audit JSONL 也保存失敗狀態；快照保存記憶紀錄，載入時仍可能需要重建 embeddings。這些改動先建立研究工具，不預設新策略一定有效。</a:t>
            </a:r>
            <a:endParaRPr/>
          </a:p>
        </p:txBody>
      </p:sp>
      <p:sp>
        <p:nvSpPr>
          <p:cNvPr id="49" name="Google Shape;4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" name="Google Shape;5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研究分支已執行並通過7項離線邏輯、4項實際LangGraph整合及5項切分測試，共16項。整合使用真實框架與儲存，模型、工具與embedding為替身並阻止連網。這是軟體驗證，不能代表真實偵測效果。測試與導讀已提交至研究分支，新增4:1／5:0練習未列入這16項。</a:t>
            </a:r>
          </a:p>
        </p:txBody>
      </p:sp>
      <p:sp>
        <p:nvSpPr>
          <p:cNvPr id="58" name="Google Shape;5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" name="Google Shape;6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稽核原始753筆、747個不同URL，一個URL有衝突標籤。合併隔離84個不同URL後剩663；候選切分398/133/132。跨組精確URL與註冊網站組不重疊，但重導向、跨網域模板、目前內容與標籤仍未驗證。warmup釣魚306/398，test42/132，類別比例明顯不平衡。</a:t>
            </a:r>
          </a:p>
        </p:txBody>
      </p:sp>
      <p:sp>
        <p:nvSpPr>
          <p:cNvPr id="67" name="Google Shape;6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" name="Google Shape;7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目前成果是研究工具與實驗準備，不能報告策略提升偵測能力。這裡的缺API指本研究執行環境未備妥，不代表使用者從未申請API。與原版缺陷相關的舊案錯誤、內容改變與攻擊面均仍待驗證。</a:t>
            </a:r>
            <a:endParaRPr/>
          </a:p>
        </p:txBody>
      </p:sp>
      <p:sp>
        <p:nvSpPr>
          <p:cNvPr id="78" name="Google Shape;7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已選Adaptive-RAG並依上傳原文核對方法及Table 1；下週深化如何借鏡，尚未據此制定新分流策略。先取得原版3:2、4:1、5:0樣本分布與錯誤，再設計補查。真實實驗仍需資料、環境及付費授權，不預先承諾執行完成。</a:t>
            </a:r>
          </a:p>
        </p:txBody>
      </p:sp>
      <p:sp>
        <p:nvSpPr>
          <p:cNvPr id="88" name="Google Shape;8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論文全名：Adaptive-RAG: Learning to Adapt Retrieval-Augmented Large Language Models through Question Complexity。Soyeong Jeong、Jinheon Baek、Sukmin Cho、Sung Ju Hwang、Jong C. Park，NAACL 2024，7036–7050。主要分類器是T5-Large。先依三種策略是否答對自動建標籤，多種答對時優先較簡單策略；三種皆失敗再依single-hop/multi-hop資料特性補標。不是單純主觀難度，也不是記憶票數。自動標籤可能錯。PDF第2頁Figure 2、第5頁§3.2。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數據來自原文Table 1，GPT-3.5-Turbo-Instruct、六QA資料集平均。Adaptive-RAG的QA Acc=48.97，固定多步=49.70，故不能說所有指標提升。Time以單步=1正規化，不是秒；Step是retrieval-and-generate steps，不直接等於API請求數。QA F1量測預測答案與標準答案詞重疊，不是二元分類F1。相對多步Step約少63%、Time約少56%，仅此設定，不是金額/token節省。資料為SQuAD、Natural Questions、TriviaQA、MuSiQue、HotpotQA、2WikiMultiHopQA。論文未驗證釣魚或舊案投票；5:0可靠性與3:2補查價值仍需本研究實驗。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兩週研究進度報告</a:t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1163300" y="6353175"/>
            <a:ext cx="666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01</a:t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09600" y="1362075"/>
            <a:ext cx="109728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87F86"/>
                </a:solidFill>
                <a:latin typeface="DFKai-SB"/>
                <a:ea typeface="DFKai-SB"/>
                <a:cs typeface="DFKai-SB"/>
                <a:sym typeface="DFKai-SB"/>
              </a:rPr>
              <a:t>MemoPhishAgent</a:t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609600" y="2228850"/>
            <a:ext cx="109728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記憶投票一致性與判決可靠性</a:t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609600" y="306705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補充取證的效果與成本分析</a:t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09600" y="4229100"/>
            <a:ext cx="10972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87F86"/>
                </a:solidFill>
                <a:latin typeface="DFKai-SB"/>
                <a:ea typeface="DFKai-SB"/>
                <a:cs typeface="DFKai-SB"/>
                <a:sym typeface="DFKai-SB"/>
              </a:rPr>
              <a:t>這兩週先把研究工具與實驗準備做好</a:t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609600" y="4933950"/>
            <a:ext cx="1097280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完成判決紀錄、離線測試與候選資料切分。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還沒跑真實網站，目前沒有偵測成效可以報告。</a:t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609600" y="6257925"/>
            <a:ext cx="8572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王博弘｜2026.10.06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D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為什麼要研究記憶投票？</a:t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11163300" y="6353175"/>
            <a:ext cx="666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02</a:t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609600" y="1400175"/>
            <a:ext cx="109728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87F86"/>
                </a:solidFill>
                <a:latin typeface="DFKai-SB"/>
                <a:ea typeface="DFKai-SB"/>
                <a:cs typeface="DFKai-SB"/>
                <a:sym typeface="DFKai-SB"/>
              </a:rPr>
              <a:t>Memory 就像舊案件的資料庫</a:t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609600" y="2047875"/>
            <a:ext cx="109728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保存網站線索、判決與工具紀錄；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遇到相似網站時，取出舊案幫助判斷。</a:t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609600" y="3314700"/>
            <a:ext cx="109728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87F86"/>
                </a:solidFill>
                <a:latin typeface="DFKai-SB"/>
                <a:ea typeface="DFKai-SB"/>
                <a:cs typeface="DFKai-SB"/>
                <a:sym typeface="DFKai-SB"/>
              </a:rPr>
              <a:t>3：2、4：1、5：0，判斷真的一樣可靠嗎？</a:t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609600" y="4019550"/>
            <a:ext cx="109728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哪些分歧值得重新查當前網站？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補查能減少多少誤判，又多花多少時間與 tokens？</a:t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609600" y="5695950"/>
            <a:ext cx="10972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87F86"/>
                </a:solidFill>
                <a:latin typeface="DFKai-SB"/>
                <a:ea typeface="DFKai-SB"/>
                <a:cs typeface="DFKai-SB"/>
                <a:sym typeface="DFKai-SB"/>
              </a:rPr>
              <a:t>票數只是舊案的一致程度，不能當成準確率。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D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/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原版什麼時候直接下判決？</a:t>
            </a: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11163300" y="6353175"/>
            <a:ext cx="666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03</a:t>
            </a: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609600" y="1362075"/>
            <a:ext cx="109728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87F86"/>
                </a:solidFill>
                <a:latin typeface="DFKai-SB"/>
                <a:ea typeface="DFKai-SB"/>
                <a:cs typeface="DFKai-SB"/>
                <a:sym typeface="DFKai-SB"/>
              </a:rPr>
              <a:t>以 k＝5 為例：五筆舊案都通過相似度門檻後</a:t>
            </a:r>
            <a:endParaRPr/>
          </a:p>
        </p:txBody>
      </p:sp>
      <p:graphicFrame>
        <p:nvGraphicFramePr>
          <p:cNvPr id="44" name="Google Shape;44;p5"/>
          <p:cNvGraphicFramePr/>
          <p:nvPr/>
        </p:nvGraphicFramePr>
        <p:xfrm>
          <a:off x="609600" y="2181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{C456B283-3286-417D-91E4-06E28628D191}</a:tableStyleId>
              </a:tblPr>
              <a:tblGrid>
                <a:gridCol w="4476750"/>
                <a:gridCol w="6496050"/>
              </a:tblGrid>
              <a:tr h="71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DFKai-SB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情況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152E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DFKai-SB"/>
                        <a:buNone/>
                      </a:pPr>
                      <a:r>
                        <a:rPr b="1" lang="en-US" sz="240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原版怎麼做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152E4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釣魚票過半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直接判釣魚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正常票占多數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交給模型繼續判斷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EDF4F6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交給模型判斷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不一定會再呼叫工具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Google Shape;45;p5"/>
          <p:cNvSpPr/>
          <p:nvPr/>
        </p:nvSpPr>
        <p:spPr>
          <a:xfrm>
            <a:off x="609600" y="5410200"/>
            <a:ext cx="10972800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直接判釣魚之前，仍會爬取、摘要與檢索。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所以要分開量測：判得準不準、實際省了多少成本。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D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/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已完成：讓每個判決都有紀錄</a:t>
            </a:r>
            <a:endParaRPr/>
          </a:p>
        </p:txBody>
      </p:sp>
      <p:sp>
        <p:nvSpPr>
          <p:cNvPr id="52" name="Google Shape;52;p6"/>
          <p:cNvSpPr/>
          <p:nvPr/>
        </p:nvSpPr>
        <p:spPr>
          <a:xfrm>
            <a:off x="11163300" y="6353175"/>
            <a:ext cx="666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06</a:t>
            </a:r>
            <a:endParaRPr/>
          </a:p>
        </p:txBody>
      </p:sp>
      <p:graphicFrame>
        <p:nvGraphicFramePr>
          <p:cNvPr id="53" name="Google Shape;53;p6"/>
          <p:cNvGraphicFramePr/>
          <p:nvPr/>
        </p:nvGraphicFramePr>
        <p:xfrm>
          <a:off x="6096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{C456B283-3286-417D-91E4-06E28628D191}</a:tableStyleId>
              </a:tblPr>
              <a:tblGrid>
                <a:gridCol w="5715000"/>
                <a:gridCol w="5257800"/>
              </a:tblGrid>
              <a:tr h="74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DFKai-SB"/>
                        <a:buNone/>
                      </a:pPr>
                      <a:r>
                        <a:rPr b="1" lang="en-US" sz="240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做了什麼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152E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DFKai-SB"/>
                        <a:buNone/>
                      </a:pPr>
                      <a:r>
                        <a:rPr b="1" lang="en-US" sz="240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為什麼需要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152E43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記下舊案、相似度與票數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回頭查判決依據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逐案保存路徑、時間與工具次數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比較可靠性與成本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EDF4F6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保存快照、凍結記憶寫入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不同實驗用相同的記憶起點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跑完後才合併正確標籤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避免 Agent 先看到答案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54" name="Google Shape;54;p6"/>
          <p:cNvSpPr/>
          <p:nvPr/>
        </p:nvSpPr>
        <p:spPr>
          <a:xfrm>
            <a:off x="609600" y="5524500"/>
            <a:ext cx="109728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87F86"/>
                </a:solidFill>
                <a:latin typeface="DFKai-SB"/>
                <a:ea typeface="DFKai-SB"/>
                <a:cs typeface="DFKai-SB"/>
                <a:sym typeface="DFKai-SB"/>
              </a:rPr>
              <a:t>目前只加紀錄，保留原版投票規則與提示詞。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87F86"/>
                </a:solidFill>
                <a:latin typeface="DFKai-SB"/>
                <a:ea typeface="DFKai-SB"/>
                <a:cs typeface="DFKai-SB"/>
                <a:sym typeface="DFKai-SB"/>
              </a:rPr>
              <a:t>還沒加入新門檻，也沒有強制補查。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D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/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如何驗證：先確認程式流程</a:t>
            </a:r>
            <a:endParaRPr/>
          </a:p>
        </p:txBody>
      </p:sp>
      <p:sp>
        <p:nvSpPr>
          <p:cNvPr id="61" name="Google Shape;61;p7"/>
          <p:cNvSpPr/>
          <p:nvPr/>
        </p:nvSpPr>
        <p:spPr>
          <a:xfrm>
            <a:off x="11163300" y="6353175"/>
            <a:ext cx="666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07</a:t>
            </a:r>
            <a:endParaRPr/>
          </a:p>
        </p:txBody>
      </p:sp>
      <p:graphicFrame>
        <p:nvGraphicFramePr>
          <p:cNvPr id="62" name="Google Shape;62;p7"/>
          <p:cNvGraphicFramePr/>
          <p:nvPr/>
        </p:nvGraphicFramePr>
        <p:xfrm>
          <a:off x="609600" y="1419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{C456B283-3286-417D-91E4-06E28628D191}</a:tableStyleId>
              </a:tblPr>
              <a:tblGrid>
                <a:gridCol w="6953250"/>
                <a:gridCol w="1524000"/>
                <a:gridCol w="2495550"/>
              </a:tblGrid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DFKai-SB"/>
                        <a:buNone/>
                      </a:pPr>
                      <a:r>
                        <a:rPr b="1" lang="en-US" sz="240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測試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152E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DFKai-SB"/>
                        <a:buNone/>
                      </a:pPr>
                      <a:r>
                        <a:rPr b="1" lang="en-US" sz="240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項數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152E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DFKai-SB"/>
                        <a:buNone/>
                      </a:pPr>
                      <a:r>
                        <a:rPr b="1" lang="en-US" sz="240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結果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152E4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離線邏輯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7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全部通過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LangGraph 框架整合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4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全部通過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EDF4F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資料切分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5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全部通過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合計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16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全部通過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63" name="Google Shape;63;p7"/>
          <p:cNvSpPr/>
          <p:nvPr/>
        </p:nvSpPr>
        <p:spPr>
          <a:xfrm>
            <a:off x="609600" y="5143500"/>
            <a:ext cx="1097280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整合測試使用實際框架與記憶儲存；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模型、網站工具與 embedding 用固定替身，阻止連網。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D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/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資料準備：先把容易出問題的案件隔開</a:t>
            </a:r>
            <a:endParaRPr/>
          </a:p>
        </p:txBody>
      </p:sp>
      <p:sp>
        <p:nvSpPr>
          <p:cNvPr id="70" name="Google Shape;70;p8"/>
          <p:cNvSpPr/>
          <p:nvPr/>
        </p:nvSpPr>
        <p:spPr>
          <a:xfrm>
            <a:off x="11163300" y="6353175"/>
            <a:ext cx="666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08</a:t>
            </a:r>
            <a:endParaRPr/>
          </a:p>
        </p:txBody>
      </p:sp>
      <p:sp>
        <p:nvSpPr>
          <p:cNvPr id="71" name="Google Shape;71;p8"/>
          <p:cNvSpPr/>
          <p:nvPr/>
        </p:nvSpPr>
        <p:spPr>
          <a:xfrm>
            <a:off x="609600" y="1371600"/>
            <a:ext cx="109728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87F86"/>
                </a:solidFill>
                <a:latin typeface="DFKai-SB"/>
                <a:ea typeface="DFKai-SB"/>
                <a:cs typeface="DFKai-SB"/>
                <a:sym typeface="DFKai-SB"/>
              </a:rPr>
              <a:t>SocPhish：753 筆紀錄，共 747 個不同 URL</a:t>
            </a:r>
            <a:endParaRPr/>
          </a:p>
        </p:txBody>
      </p:sp>
      <p:sp>
        <p:nvSpPr>
          <p:cNvPr id="72" name="Google Shape;72;p8"/>
          <p:cNvSpPr/>
          <p:nvPr/>
        </p:nvSpPr>
        <p:spPr>
          <a:xfrm>
            <a:off x="609600" y="2000250"/>
            <a:ext cx="109728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隔離標籤衝突、短網址與參數遮蔽案件：84 個 URL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剩下 663 個，按網站分組，先做候選切分。</a:t>
            </a:r>
            <a:endParaRPr/>
          </a:p>
        </p:txBody>
      </p:sp>
      <p:graphicFrame>
        <p:nvGraphicFramePr>
          <p:cNvPr id="73" name="Google Shape;73;p8"/>
          <p:cNvGraphicFramePr/>
          <p:nvPr/>
        </p:nvGraphicFramePr>
        <p:xfrm>
          <a:off x="609600" y="3257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{C456B283-3286-417D-91E4-06E28628D191}</a:tableStyleId>
              </a:tblPr>
              <a:tblGrid>
                <a:gridCol w="8286750"/>
                <a:gridCol w="2686050"/>
              </a:tblGrid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DFKai-SB"/>
                        <a:buNone/>
                      </a:pPr>
                      <a:r>
                        <a:rPr b="1" lang="en-US" sz="240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用途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152E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DFKai-SB"/>
                        <a:buNone/>
                      </a:pPr>
                      <a:r>
                        <a:rPr b="1" lang="en-US" sz="240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URL 數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152E4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建立記憶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398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驗證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133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ED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測試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132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4" name="Google Shape;74;p8"/>
          <p:cNvSpPr/>
          <p:nvPr/>
        </p:nvSpPr>
        <p:spPr>
          <a:xfrm>
            <a:off x="609600" y="5810250"/>
            <a:ext cx="10972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跨組沒有重複 URL 或同網站組；仍要查標籤與網站現況。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D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"/>
          <p:cNvSpPr/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目前限制：還不能說偵測效果變好了</a:t>
            </a:r>
            <a:endParaRPr/>
          </a:p>
        </p:txBody>
      </p:sp>
      <p:sp>
        <p:nvSpPr>
          <p:cNvPr id="81" name="Google Shape;81;p9"/>
          <p:cNvSpPr/>
          <p:nvPr/>
        </p:nvSpPr>
        <p:spPr>
          <a:xfrm>
            <a:off x="11163300" y="6353175"/>
            <a:ext cx="666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09</a:t>
            </a:r>
            <a:endParaRPr/>
          </a:p>
        </p:txBody>
      </p:sp>
      <p:sp>
        <p:nvSpPr>
          <p:cNvPr id="82" name="Google Shape;82;p9"/>
          <p:cNvSpPr/>
          <p:nvPr/>
        </p:nvSpPr>
        <p:spPr>
          <a:xfrm>
            <a:off x="609600" y="1390650"/>
            <a:ext cx="109728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87F86"/>
                </a:solidFill>
                <a:latin typeface="DFKai-SB"/>
                <a:ea typeface="DFKai-SB"/>
                <a:cs typeface="DFKai-SB"/>
                <a:sym typeface="DFKai-SB"/>
              </a:rPr>
              <a:t>還沒跑真實網站，沒有 Accuracy、Recall 或 F1。</a:t>
            </a:r>
            <a:endParaRPr/>
          </a:p>
        </p:txBody>
      </p:sp>
      <p:sp>
        <p:nvSpPr>
          <p:cNvPr id="83" name="Google Shape;83;p9"/>
          <p:cNvSpPr/>
          <p:nvPr/>
        </p:nvSpPr>
        <p:spPr>
          <a:xfrm>
            <a:off x="609600" y="2543175"/>
            <a:ext cx="10972800" cy="2238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環境：目前執行環境缺 API 憑證與預設瀏覽器。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資料：類別比例不平衡，候選切分還沒定案。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成本：逐案 tokens 仍為 null，要處理並行用量歸屬。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記憶：還沒有真實快照，重建 embeddings 可能收費。</a:t>
            </a:r>
            <a:endParaRPr/>
          </a:p>
        </p:txBody>
      </p:sp>
      <p:sp>
        <p:nvSpPr>
          <p:cNvPr id="84" name="Google Shape;84;p9"/>
          <p:cNvSpPr/>
          <p:nvPr/>
        </p:nvSpPr>
        <p:spPr>
          <a:xfrm>
            <a:off x="609600" y="5229225"/>
            <a:ext cx="10972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舊案可能有錯誤標籤，網站也可能已經改版。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這些風險還要檢查，不能直接相信檢索結果。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D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/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下週計畫：把原版小批次實驗準備好</a:t>
            </a:r>
            <a:endParaRPr/>
          </a:p>
        </p:txBody>
      </p:sp>
      <p:sp>
        <p:nvSpPr>
          <p:cNvPr id="91" name="Google Shape;91;p10"/>
          <p:cNvSpPr/>
          <p:nvPr/>
        </p:nvSpPr>
        <p:spPr>
          <a:xfrm>
            <a:off x="11163300" y="6353175"/>
            <a:ext cx="666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10</a:t>
            </a:r>
            <a:endParaRPr/>
          </a:p>
        </p:txBody>
      </p:sp>
      <p:graphicFrame>
        <p:nvGraphicFramePr>
          <p:cNvPr id="92" name="Google Shape;92;p10"/>
          <p:cNvGraphicFramePr/>
          <p:nvPr/>
        </p:nvGraphicFramePr>
        <p:xfrm>
          <a:off x="609600" y="1419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{C456B283-3286-417D-91E4-06E28628D191}</a:tableStyleId>
              </a:tblPr>
              <a:tblGrid>
                <a:gridCol w="4476750"/>
                <a:gridCol w="6496050"/>
              </a:tblGrid>
              <a:tr h="78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DFKai-SB"/>
                        <a:buNone/>
                      </a:pPr>
                      <a:r>
                        <a:rPr b="1" lang="en-US" sz="240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工作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152E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DFKai-SB"/>
                        <a:buNone/>
                      </a:pPr>
                      <a:r>
                        <a:rPr b="1" lang="en-US" sz="240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預計交付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152E43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深化論文與分流設計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確認補查觸發條件與評估方式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確認資料與問題案件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提出正式切分方案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EDF4F6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設計原版小批次基線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固定模型、k、門檻與記憶起點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確認環境與預算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列出執行條件與費用估計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93" name="Google Shape;93;p10"/>
          <p:cNvSpPr/>
          <p:nvPr/>
        </p:nvSpPr>
        <p:spPr>
          <a:xfrm>
            <a:off x="609600" y="5610225"/>
            <a:ext cx="10972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87F86"/>
                </a:solidFill>
                <a:latin typeface="DFKai-SB"/>
                <a:ea typeface="DFKai-SB"/>
                <a:cs typeface="DFKai-SB"/>
                <a:sym typeface="DFKai-SB"/>
              </a:rPr>
              <a:t>先把資料與實驗條件確認好。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87F86"/>
                </a:solidFill>
                <a:latin typeface="DFKai-SB"/>
                <a:ea typeface="DFKai-SB"/>
                <a:cs typeface="DFKai-SB"/>
                <a:sym typeface="DFKai-SB"/>
              </a:rPr>
              <a:t>條件與預算就緒後，再開始真實基線實驗。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10972800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183B46"/>
                </a:solidFill>
                <a:latin typeface="DFKai-SB"/>
              </a:rPr>
              <a:t>相關論文：Adaptive-RAG 如何決定取證程度？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64824" y="6355080"/>
            <a:ext cx="66751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pPr>
              <a:spcAft>
                <a:spcPts val="800"/>
              </a:spcAft>
            </a:pPr>
            <a:r>
              <a:rPr sz="1800" b="0">
                <a:solidFill>
                  <a:srgbClr val="183B46"/>
                </a:solidFill>
                <a:latin typeface="DFKai-SB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0759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67D8D"/>
                </a:solidFill>
                <a:latin typeface="DFKai-SB"/>
              </a:rPr>
              <a:t>Jeong et al.｜NAACL 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90195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183B46"/>
                </a:solidFill>
                <a:latin typeface="DFKai-SB"/>
              </a:rPr>
              <a:t>固定流程的問題：簡單題可能查太多，複雜題可能查不夠。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93008" y="2688336"/>
            <a:ext cx="5166360" cy="640080"/>
          </a:xfrm>
          <a:prstGeom prst="roundRect">
            <a:avLst/>
          </a:prstGeom>
          <a:solidFill>
            <a:srgbClr val="EAF3F5"/>
          </a:solidFill>
          <a:ln>
            <a:solidFill>
              <a:srgbClr val="167D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39312" y="2843784"/>
            <a:ext cx="4873752" cy="3840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300" b="1">
                <a:solidFill>
                  <a:srgbClr val="183B46"/>
                </a:solidFill>
                <a:latin typeface="DFKai-SB"/>
              </a:rPr>
              <a:t>問題 → 複雜度分類器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341985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167D8D"/>
                </a:solidFill>
                <a:latin typeface="DFKai-SB"/>
              </a:rP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67912"/>
            <a:ext cx="3474720" cy="1188720"/>
          </a:xfrm>
          <a:prstGeom prst="roundRect">
            <a:avLst/>
          </a:prstGeom>
          <a:solidFill>
            <a:srgbClr val="EAF3F5"/>
          </a:solidFill>
          <a:ln>
            <a:solidFill>
              <a:srgbClr val="167D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4023360"/>
            <a:ext cx="3182112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300" b="1">
                <a:solidFill>
                  <a:srgbClr val="183B46"/>
                </a:solidFill>
                <a:latin typeface="DFKai-SB"/>
              </a:rPr>
              <a:t>A｜不檢索</a:t>
            </a:r>
          </a:p>
          <a:p>
            <a:pPr algn="ctr">
              <a:spcAft>
                <a:spcPts val="800"/>
              </a:spcAft>
            </a:pPr>
            <a:r>
              <a:rPr sz="2300" b="1">
                <a:solidFill>
                  <a:srgbClr val="183B46"/>
                </a:solidFill>
                <a:latin typeface="DFKai-SB"/>
              </a:rPr>
              <a:t>模型直接回答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341985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167D8D"/>
                </a:solidFill>
                <a:latin typeface="DFKai-SB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867912"/>
            <a:ext cx="3474720" cy="1188720"/>
          </a:xfrm>
          <a:prstGeom prst="roundRect">
            <a:avLst/>
          </a:prstGeom>
          <a:solidFill>
            <a:srgbClr val="EAF3F5"/>
          </a:solidFill>
          <a:ln>
            <a:solidFill>
              <a:srgbClr val="167D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4023360"/>
            <a:ext cx="3182112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300" b="1">
                <a:solidFill>
                  <a:srgbClr val="183B46"/>
                </a:solidFill>
                <a:latin typeface="DFKai-SB"/>
              </a:rPr>
              <a:t>B｜單步檢索</a:t>
            </a:r>
          </a:p>
          <a:p>
            <a:pPr algn="ctr">
              <a:spcAft>
                <a:spcPts val="800"/>
              </a:spcAft>
            </a:pPr>
            <a:r>
              <a:rPr sz="2300" b="1">
                <a:solidFill>
                  <a:srgbClr val="183B46"/>
                </a:solidFill>
                <a:latin typeface="DFKai-SB"/>
              </a:rPr>
              <a:t>查一次資料再回答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341985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167D8D"/>
                </a:solidFill>
                <a:latin typeface="DFKai-SB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3867912"/>
            <a:ext cx="3474720" cy="1188720"/>
          </a:xfrm>
          <a:prstGeom prst="roundRect">
            <a:avLst/>
          </a:prstGeom>
          <a:solidFill>
            <a:srgbClr val="EAF3F5"/>
          </a:solidFill>
          <a:ln>
            <a:solidFill>
              <a:srgbClr val="167D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01583" y="4023360"/>
            <a:ext cx="3182112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300" b="1">
                <a:solidFill>
                  <a:srgbClr val="183B46"/>
                </a:solidFill>
                <a:latin typeface="DFKai-SB"/>
              </a:rPr>
              <a:t>C｜多步檢索</a:t>
            </a:r>
          </a:p>
          <a:p>
            <a:pPr algn="ctr">
              <a:spcAft>
                <a:spcPts val="800"/>
              </a:spcAft>
            </a:pPr>
            <a:r>
              <a:rPr sz="2300" b="1">
                <a:solidFill>
                  <a:srgbClr val="183B46"/>
                </a:solidFill>
                <a:latin typeface="DFKai-SB"/>
              </a:rPr>
              <a:t>反覆檢索與推理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5340096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300" b="0">
                <a:solidFill>
                  <a:srgbClr val="183B46"/>
                </a:solidFill>
                <a:latin typeface="DFKai-SB"/>
              </a:rPr>
              <a:t>分類器依問題選策略；訓練標籤參考各策略是否答對。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600760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67D8D"/>
                </a:solidFill>
                <a:latin typeface="DFKai-SB"/>
              </a:rPr>
              <a:t>來源：§3.2、Figure 2｜aclanthology.org/2024.naacl-long.389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10972800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183B46"/>
                </a:solidFill>
                <a:latin typeface="DFKai-SB"/>
              </a:rPr>
              <a:t>論文結果：兼顧回答品質與取證效率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64824" y="6355080"/>
            <a:ext cx="66751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pPr>
              <a:spcAft>
                <a:spcPts val="800"/>
              </a:spcAft>
            </a:pPr>
            <a:r>
              <a:rPr sz="1800" b="0">
                <a:solidFill>
                  <a:srgbClr val="183B46"/>
                </a:solidFill>
                <a:latin typeface="DFKai-SB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16736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67D8D"/>
                </a:solidFill>
                <a:latin typeface="DFKai-SB"/>
              </a:rPr>
              <a:t>GPT-3.5 設定｜六個問答資料集平均（Table 1）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2084831"/>
          <a:ext cx="10972800" cy="1591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/>
                <a:gridCol w="1965960"/>
                <a:gridCol w="2423160"/>
                <a:gridCol w="2697480"/>
              </a:tblGrid>
              <a:tr h="530352">
                <a:tc>
                  <a:txBody>
                    <a:bodyPr/>
                    <a:lstStyle/>
                    <a:p>
                      <a:r>
                        <a:rPr sz="2300" b="1">
                          <a:solidFill>
                            <a:srgbClr val="FFFFFF"/>
                          </a:solidFill>
                          <a:latin typeface="DFKai-SB"/>
                        </a:rPr>
                        <a:t>方法</a:t>
                      </a:r>
                    </a:p>
                  </a:txBody>
                  <a:tcPr>
                    <a:solidFill>
                      <a:srgbClr val="167D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00" b="1">
                          <a:solidFill>
                            <a:srgbClr val="FFFFFF"/>
                          </a:solidFill>
                          <a:latin typeface="DFKai-SB"/>
                        </a:rPr>
                        <a:t>QA F1</a:t>
                      </a:r>
                    </a:p>
                  </a:txBody>
                  <a:tcPr>
                    <a:solidFill>
                      <a:srgbClr val="167D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00" b="1">
                          <a:solidFill>
                            <a:srgbClr val="FFFFFF"/>
                          </a:solidFill>
                          <a:latin typeface="DFKai-SB"/>
                        </a:rPr>
                        <a:t>平均步數</a:t>
                      </a:r>
                    </a:p>
                  </a:txBody>
                  <a:tcPr>
                    <a:solidFill>
                      <a:srgbClr val="167D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00" b="1">
                          <a:solidFill>
                            <a:srgbClr val="FFFFFF"/>
                          </a:solidFill>
                          <a:latin typeface="DFKai-SB"/>
                        </a:rPr>
                        <a:t>相對時間</a:t>
                      </a:r>
                    </a:p>
                  </a:txBody>
                  <a:tcPr>
                    <a:solidFill>
                      <a:srgbClr val="167D8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2300" b="0">
                          <a:solidFill>
                            <a:srgbClr val="183B46"/>
                          </a:solidFill>
                          <a:latin typeface="DFKai-SB"/>
                        </a:rPr>
                        <a:t>Adaptive-RAG</a:t>
                      </a:r>
                    </a:p>
                  </a:txBody>
                  <a:tcPr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00" b="0">
                          <a:solidFill>
                            <a:srgbClr val="183B46"/>
                          </a:solidFill>
                          <a:latin typeface="DFKai-SB"/>
                        </a:rPr>
                        <a:t>50.91</a:t>
                      </a:r>
                    </a:p>
                  </a:txBody>
                  <a:tcPr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00" b="0">
                          <a:solidFill>
                            <a:srgbClr val="183B46"/>
                          </a:solidFill>
                          <a:latin typeface="DFKai-SB"/>
                        </a:rPr>
                        <a:t>1.03</a:t>
                      </a:r>
                    </a:p>
                  </a:txBody>
                  <a:tcPr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00" b="0">
                          <a:solidFill>
                            <a:srgbClr val="183B46"/>
                          </a:solidFill>
                          <a:latin typeface="DFKai-SB"/>
                        </a:rPr>
                        <a:t>1.46</a:t>
                      </a:r>
                    </a:p>
                  </a:txBody>
                  <a:tcPr>
                    <a:solidFill>
                      <a:srgbClr val="EAF3F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2300" b="0">
                          <a:solidFill>
                            <a:srgbClr val="183B46"/>
                          </a:solidFill>
                          <a:latin typeface="DFKai-SB"/>
                        </a:rPr>
                        <a:t>固定多步檢索</a:t>
                      </a:r>
                    </a:p>
                  </a:txBody>
                  <a:tcPr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00" b="0">
                          <a:solidFill>
                            <a:srgbClr val="183B46"/>
                          </a:solidFill>
                          <a:latin typeface="DFKai-SB"/>
                        </a:rPr>
                        <a:t>50.87</a:t>
                      </a:r>
                    </a:p>
                  </a:txBody>
                  <a:tcPr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00" b="0">
                          <a:solidFill>
                            <a:srgbClr val="183B46"/>
                          </a:solidFill>
                          <a:latin typeface="DFKai-SB"/>
                        </a:rPr>
                        <a:t>2.81</a:t>
                      </a:r>
                    </a:p>
                  </a:txBody>
                  <a:tcPr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00" b="0">
                          <a:solidFill>
                            <a:srgbClr val="183B46"/>
                          </a:solidFill>
                          <a:latin typeface="DFKai-SB"/>
                        </a:rPr>
                        <a:t>3.33</a:t>
                      </a:r>
                    </a:p>
                  </a:txBody>
                  <a:tcPr>
                    <a:solidFill>
                      <a:srgbClr val="EAF3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2648" y="39136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500" b="1">
                <a:solidFill>
                  <a:srgbClr val="183B46"/>
                </a:solidFill>
                <a:latin typeface="DFKai-SB"/>
              </a:rPr>
              <a:t>F1 接近固定多步方法，步數與時間較低。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4572000"/>
            <a:ext cx="1097280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300" b="0">
                <a:solidFill>
                  <a:srgbClr val="183B46"/>
                </a:solidFill>
                <a:latin typeface="DFKai-SB"/>
              </a:rPr>
              <a:t>借鏡：依需求分流，同時比較判決品質與取證成本。</a:t>
            </a:r>
          </a:p>
          <a:p>
            <a:pPr>
              <a:spcAft>
                <a:spcPts val="800"/>
              </a:spcAft>
            </a:pPr>
            <a:r>
              <a:rPr sz="2300" b="0">
                <a:solidFill>
                  <a:srgbClr val="183B46"/>
                </a:solidFill>
                <a:latin typeface="DFKai-SB"/>
              </a:rPr>
              <a:t>差異：論文用問題複雜度；本研究檢驗記憶投票一致性。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4243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67D8D"/>
                </a:solidFill>
                <a:latin typeface="DFKai-SB"/>
              </a:rPr>
              <a:t>Time 是相對單步方法的倍率；QA F1 不同於釣魚分類 F1。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190488"/>
            <a:ext cx="105156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67D8D"/>
                </a:solidFill>
                <a:latin typeface="DFKai-SB"/>
              </a:rPr>
              <a:t>來源：Table 1、§4.3（PDF 第 6 頁）｜不能推論 5:0 一定可靠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